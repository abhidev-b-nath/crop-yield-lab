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x="18288000" cy="10287000"/>
  <p:notesSz cx="6858000" cy="9144000"/>
  <p:embeddedFontLst>
    <p:embeddedFont>
      <p:font typeface="Gagalin" charset="1" panose="00000500000000000000"/>
      <p:regular r:id="rId22"/>
    </p:embeddedFont>
    <p:embeddedFont>
      <p:font typeface="Biski Light" charset="1" panose="00000000000000000000"/>
      <p:regular r:id="rId23"/>
    </p:embeddedFont>
    <p:embeddedFont>
      <p:font typeface="Brittany" charset="1" panose="00000000000000000000"/>
      <p:regular r:id="rId24"/>
    </p:embeddedFont>
    <p:embeddedFont>
      <p:font typeface="Biski Bold" charset="1" panose="00000000000000000000"/>
      <p:regular r:id="rId25"/>
    </p:embeddedFont>
    <p:embeddedFont>
      <p:font typeface="Anton" charset="1" panose="00000500000000000000"/>
      <p:regular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291E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879757" y="3966135"/>
            <a:ext cx="10528486" cy="15058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1648"/>
              </a:lnSpc>
            </a:pPr>
            <a:r>
              <a:rPr lang="en-US" sz="10400">
                <a:solidFill>
                  <a:srgbClr val="FAF7F2"/>
                </a:solidFill>
                <a:latin typeface="Gagalin"/>
                <a:ea typeface="Gagalin"/>
                <a:cs typeface="Gagalin"/>
                <a:sym typeface="Gagalin"/>
              </a:rPr>
              <a:t>Machine Learning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6303360" y="5749017"/>
            <a:ext cx="6134677" cy="8217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579"/>
              </a:lnSpc>
            </a:pPr>
            <a:r>
              <a:rPr lang="en-US" sz="3270" spc="264">
                <a:solidFill>
                  <a:srgbClr val="FAF7F2"/>
                </a:solidFill>
                <a:latin typeface="Biski Light"/>
                <a:ea typeface="Biski Light"/>
                <a:cs typeface="Biski Light"/>
                <a:sym typeface="Biski Light"/>
              </a:rPr>
              <a:t>CROP YIELD PREDICTION  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3809376" y="8390255"/>
            <a:ext cx="3588899" cy="679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>
                <a:solidFill>
                  <a:srgbClr val="FAF7F2"/>
                </a:solidFill>
                <a:latin typeface="Brittany"/>
                <a:ea typeface="Brittany"/>
                <a:cs typeface="Brittany"/>
                <a:sym typeface="Brittany"/>
              </a:rPr>
              <a:t>By: Abhidev 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291E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76121" y="713056"/>
            <a:ext cx="8072200" cy="9036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419"/>
              </a:lnSpc>
            </a:pPr>
            <a:r>
              <a:rPr lang="en-US" sz="5299" u="sng">
                <a:solidFill>
                  <a:srgbClr val="FFFFFF"/>
                </a:solidFill>
                <a:latin typeface="Gagalin"/>
                <a:ea typeface="Gagalin"/>
                <a:cs typeface="Gagalin"/>
                <a:sym typeface="Gagalin"/>
              </a:rPr>
              <a:t>WHAT IS MACHINE LEARNING?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530945" y="1948639"/>
            <a:ext cx="17034281" cy="21577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69"/>
              </a:lnSpc>
              <a:spcBef>
                <a:spcPct val="0"/>
              </a:spcBef>
            </a:pPr>
            <a:r>
              <a:rPr lang="en-US" b="true" sz="3549">
                <a:solidFill>
                  <a:srgbClr val="FFFFFF"/>
                </a:solidFill>
                <a:latin typeface="Biski Bold"/>
                <a:ea typeface="Biski Bold"/>
                <a:cs typeface="Biski Bold"/>
                <a:sym typeface="Biski Bold"/>
              </a:rPr>
              <a:t>Machine Learning is a way to teach computers to learn patterns from data and use them to make predictions or decisions without being explicitly programmed for every situation.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821769" y="5237042"/>
            <a:ext cx="4004191" cy="6889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sz="4000">
                <a:solidFill>
                  <a:srgbClr val="FFFFFF"/>
                </a:solidFill>
                <a:latin typeface="Gagalin"/>
                <a:ea typeface="Gagalin"/>
                <a:cs typeface="Gagalin"/>
                <a:sym typeface="Gagalin"/>
              </a:rPr>
              <a:t>MODERN DEFNITION: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21769" y="5829634"/>
            <a:ext cx="16177147" cy="2175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  <a:spcBef>
                <a:spcPct val="0"/>
              </a:spcBef>
            </a:pPr>
            <a:r>
              <a:rPr lang="en-US" b="true" sz="3600">
                <a:solidFill>
                  <a:srgbClr val="FFFFFF"/>
                </a:solidFill>
                <a:latin typeface="Biski Bold"/>
                <a:ea typeface="Biski Bold"/>
                <a:cs typeface="Biski Bold"/>
                <a:sym typeface="Biski Bold"/>
              </a:rPr>
              <a:t>A computer program is said to learn from Experience (E) with respect to a Task (T) and Performance Measure (P) when its performance improves with experience.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530945" y="8434500"/>
            <a:ext cx="15574746" cy="6064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00"/>
              </a:lnSpc>
            </a:pPr>
            <a:r>
              <a:rPr lang="en-US" sz="350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BASIC IDEA:        DATA → LEARN PATTERNS → MAKE PREDICTIONS</a:t>
            </a:r>
          </a:p>
        </p:txBody>
      </p:sp>
    </p:spTree>
  </p:cSld>
  <p:clrMapOvr>
    <a:masterClrMapping/>
  </p:clrMapOvr>
  <p:transition spd="fast">
    <p:push dir="l"/>
  </p:transition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291E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13898" y="679369"/>
            <a:ext cx="8930102" cy="9036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420"/>
              </a:lnSpc>
            </a:pPr>
            <a:r>
              <a:rPr lang="en-US" sz="5300" u="sng">
                <a:solidFill>
                  <a:srgbClr val="FFFFFF"/>
                </a:solidFill>
                <a:latin typeface="Gagalin"/>
                <a:ea typeface="Gagalin"/>
                <a:cs typeface="Gagalin"/>
                <a:sym typeface="Gagalin"/>
              </a:rPr>
              <a:t>WHY MACHINE LEARNING...?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444226" y="1917714"/>
            <a:ext cx="16230558" cy="3415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66444" indent="-383222" lvl="1">
              <a:lnSpc>
                <a:spcPts val="4969"/>
              </a:lnSpc>
              <a:buFont typeface="Arial"/>
              <a:buChar char="•"/>
            </a:pPr>
            <a:r>
              <a:rPr lang="en-US" b="true" sz="3549">
                <a:solidFill>
                  <a:srgbClr val="FFFFFF"/>
                </a:solidFill>
                <a:latin typeface="Biski Bold"/>
                <a:ea typeface="Biski Bold"/>
                <a:cs typeface="Biski Bold"/>
                <a:sym typeface="Biski Bold"/>
              </a:rPr>
              <a:t>Manual rules cannot capture complex real-world patterns.</a:t>
            </a:r>
          </a:p>
          <a:p>
            <a:pPr algn="l" marL="766444" indent="-383222" lvl="1">
              <a:lnSpc>
                <a:spcPts val="4969"/>
              </a:lnSpc>
              <a:buFont typeface="Arial"/>
              <a:buChar char="•"/>
            </a:pPr>
            <a:r>
              <a:rPr lang="en-US" b="true" sz="3549">
                <a:solidFill>
                  <a:srgbClr val="FFFFFF"/>
                </a:solidFill>
                <a:latin typeface="Biski Bold"/>
                <a:ea typeface="Biski Bold"/>
                <a:cs typeface="Biski Bold"/>
                <a:sym typeface="Biski Bold"/>
              </a:rPr>
              <a:t>ML can automate prediction and decision-making.</a:t>
            </a:r>
          </a:p>
          <a:p>
            <a:pPr algn="l" marL="766444" indent="-383222" lvl="1">
              <a:lnSpc>
                <a:spcPts val="4969"/>
              </a:lnSpc>
              <a:buFont typeface="Arial"/>
              <a:buChar char="•"/>
            </a:pPr>
            <a:r>
              <a:rPr lang="en-US" b="true" sz="3549">
                <a:solidFill>
                  <a:srgbClr val="FFFFFF"/>
                </a:solidFill>
                <a:latin typeface="Biski Bold"/>
                <a:ea typeface="Biski Bold"/>
                <a:cs typeface="Biski Bold"/>
                <a:sym typeface="Biski Bold"/>
              </a:rPr>
              <a:t>Models can learn relationships from large datasets.</a:t>
            </a:r>
          </a:p>
          <a:p>
            <a:pPr algn="l" marL="766444" indent="-383222" lvl="1">
              <a:lnSpc>
                <a:spcPts val="4969"/>
              </a:lnSpc>
              <a:buFont typeface="Arial"/>
              <a:buChar char="•"/>
            </a:pPr>
            <a:r>
              <a:rPr lang="en-US" b="true" sz="3549">
                <a:solidFill>
                  <a:srgbClr val="FFFFFF"/>
                </a:solidFill>
                <a:latin typeface="Biski Bold"/>
                <a:ea typeface="Biski Bold"/>
                <a:cs typeface="Biski Bold"/>
                <a:sym typeface="Biski Bold"/>
              </a:rPr>
              <a:t>ML is useful across many real-world applications.</a:t>
            </a:r>
          </a:p>
          <a:p>
            <a:pPr algn="just">
              <a:lnSpc>
                <a:spcPts val="4969"/>
              </a:lnSpc>
              <a:spcBef>
                <a:spcPct val="0"/>
              </a:spcBef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857178" y="6508012"/>
            <a:ext cx="2985730" cy="6889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sz="4000">
                <a:solidFill>
                  <a:srgbClr val="FFFFFF"/>
                </a:solidFill>
                <a:latin typeface="Gagalin"/>
                <a:ea typeface="Gagalin"/>
                <a:cs typeface="Gagalin"/>
                <a:sym typeface="Gagalin"/>
              </a:rPr>
              <a:t>Applications: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4102725" y="6580085"/>
            <a:ext cx="12850585" cy="5638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20"/>
              </a:lnSpc>
              <a:spcBef>
                <a:spcPct val="0"/>
              </a:spcBef>
            </a:pPr>
            <a:r>
              <a:rPr lang="en-US" sz="330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Healthcare  |  Finance  |  Agriculture  |  Marketing   |  Transportation</a:t>
            </a:r>
          </a:p>
        </p:txBody>
      </p:sp>
    </p:spTree>
  </p:cSld>
  <p:clrMapOvr>
    <a:masterClrMapping/>
  </p:clrMapOvr>
  <p:transition spd="slow">
    <p:push dir="l"/>
  </p:transition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91E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575849" y="2166103"/>
            <a:ext cx="13043506" cy="7467407"/>
          </a:xfrm>
          <a:custGeom>
            <a:avLst/>
            <a:gdLst/>
            <a:ahLst/>
            <a:cxnLst/>
            <a:rect r="r" b="b" t="t" l="l"/>
            <a:pathLst>
              <a:path h="7467407" w="13043506">
                <a:moveTo>
                  <a:pt x="0" y="0"/>
                </a:moveTo>
                <a:lnTo>
                  <a:pt x="13043506" y="0"/>
                </a:lnTo>
                <a:lnTo>
                  <a:pt x="13043506" y="7467407"/>
                </a:lnTo>
                <a:lnTo>
                  <a:pt x="0" y="746740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993132" y="544513"/>
            <a:ext cx="5553551" cy="863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00"/>
              </a:lnSpc>
            </a:pPr>
            <a:r>
              <a:rPr lang="en-US" sz="5000" u="sng">
                <a:solidFill>
                  <a:srgbClr val="FFFFFF"/>
                </a:solidFill>
                <a:latin typeface="Gagalin"/>
                <a:ea typeface="Gagalin"/>
                <a:cs typeface="Gagalin"/>
                <a:sym typeface="Gagalin"/>
              </a:rPr>
              <a:t>Learning paradigms</a:t>
            </a:r>
          </a:p>
        </p:txBody>
      </p:sp>
    </p:spTree>
  </p:cSld>
  <p:clrMapOvr>
    <a:masterClrMapping/>
  </p:clrMapOvr>
  <p:transition spd="slow">
    <p:push dir="l"/>
  </p:transition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91E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87709" y="1332029"/>
            <a:ext cx="17512583" cy="7137769"/>
          </a:xfrm>
          <a:custGeom>
            <a:avLst/>
            <a:gdLst/>
            <a:ahLst/>
            <a:cxnLst/>
            <a:rect r="r" b="b" t="t" l="l"/>
            <a:pathLst>
              <a:path h="7137769" w="17512583">
                <a:moveTo>
                  <a:pt x="0" y="0"/>
                </a:moveTo>
                <a:lnTo>
                  <a:pt x="17512582" y="0"/>
                </a:lnTo>
                <a:lnTo>
                  <a:pt x="17512582" y="7137769"/>
                </a:lnTo>
                <a:lnTo>
                  <a:pt x="0" y="713776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947" t="0" r="-947" b="0"/>
            </a:stretch>
          </a:blipFill>
        </p:spPr>
      </p:sp>
    </p:spTree>
  </p:cSld>
  <p:clrMapOvr>
    <a:masterClrMapping/>
  </p:clrMapOvr>
  <p:transition spd="slow">
    <p:push dir="l"/>
  </p:transition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91E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01125" y="291058"/>
            <a:ext cx="17328636" cy="9747358"/>
          </a:xfrm>
          <a:custGeom>
            <a:avLst/>
            <a:gdLst/>
            <a:ahLst/>
            <a:cxnLst/>
            <a:rect r="r" b="b" t="t" l="l"/>
            <a:pathLst>
              <a:path h="9747358" w="17328636">
                <a:moveTo>
                  <a:pt x="0" y="0"/>
                </a:moveTo>
                <a:lnTo>
                  <a:pt x="17328636" y="0"/>
                </a:lnTo>
                <a:lnTo>
                  <a:pt x="17328636" y="9747357"/>
                </a:lnTo>
                <a:lnTo>
                  <a:pt x="0" y="974735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  <p:transition spd="slow">
    <p:push dir="l"/>
  </p:transition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91E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22436" y="0"/>
            <a:ext cx="16043128" cy="10695419"/>
          </a:xfrm>
          <a:custGeom>
            <a:avLst/>
            <a:gdLst/>
            <a:ahLst/>
            <a:cxnLst/>
            <a:rect r="r" b="b" t="t" l="l"/>
            <a:pathLst>
              <a:path h="10695419" w="16043128">
                <a:moveTo>
                  <a:pt x="0" y="0"/>
                </a:moveTo>
                <a:lnTo>
                  <a:pt x="16043128" y="0"/>
                </a:lnTo>
                <a:lnTo>
                  <a:pt x="16043128" y="10695419"/>
                </a:lnTo>
                <a:lnTo>
                  <a:pt x="0" y="1069541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  <p:transition spd="slow">
    <p:push dir="l"/>
  </p:transition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291E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417177" y="4350703"/>
            <a:ext cx="13064394" cy="927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99"/>
              </a:lnSpc>
            </a:pPr>
            <a:r>
              <a:rPr lang="en-US" sz="5499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IMPLEMENTATION OF THE PROJECT--------&gt;</a:t>
            </a:r>
          </a:p>
        </p:txBody>
      </p:sp>
    </p:spTree>
  </p:cSld>
  <p:clrMapOvr>
    <a:masterClrMapping/>
  </p:clrMapOvr>
  <p:transition spd="slow">
    <p:push dir="l"/>
  </p:transition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91E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07455" y="-161727"/>
            <a:ext cx="15673090" cy="10448727"/>
          </a:xfrm>
          <a:custGeom>
            <a:avLst/>
            <a:gdLst/>
            <a:ahLst/>
            <a:cxnLst/>
            <a:rect r="r" b="b" t="t" l="l"/>
            <a:pathLst>
              <a:path h="10448727" w="15673090">
                <a:moveTo>
                  <a:pt x="0" y="0"/>
                </a:moveTo>
                <a:lnTo>
                  <a:pt x="15673090" y="0"/>
                </a:lnTo>
                <a:lnTo>
                  <a:pt x="15673090" y="10448727"/>
                </a:lnTo>
                <a:lnTo>
                  <a:pt x="0" y="1044872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  <p:transition spd="slow">
    <p:push dir="l"/>
  </p:transition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91E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25304" y="-134499"/>
            <a:ext cx="15833996" cy="10555997"/>
          </a:xfrm>
          <a:custGeom>
            <a:avLst/>
            <a:gdLst/>
            <a:ahLst/>
            <a:cxnLst/>
            <a:rect r="r" b="b" t="t" l="l"/>
            <a:pathLst>
              <a:path h="10555997" w="15833996">
                <a:moveTo>
                  <a:pt x="0" y="0"/>
                </a:moveTo>
                <a:lnTo>
                  <a:pt x="15833996" y="0"/>
                </a:lnTo>
                <a:lnTo>
                  <a:pt x="15833996" y="10555998"/>
                </a:lnTo>
                <a:lnTo>
                  <a:pt x="0" y="1055599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  <p:transition spd="slow">
    <p:push dir="l"/>
  </p:transition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91E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16791" y="0"/>
            <a:ext cx="15854417" cy="10569611"/>
          </a:xfrm>
          <a:custGeom>
            <a:avLst/>
            <a:gdLst/>
            <a:ahLst/>
            <a:cxnLst/>
            <a:rect r="r" b="b" t="t" l="l"/>
            <a:pathLst>
              <a:path h="10569611" w="15854417">
                <a:moveTo>
                  <a:pt x="0" y="0"/>
                </a:moveTo>
                <a:lnTo>
                  <a:pt x="15854418" y="0"/>
                </a:lnTo>
                <a:lnTo>
                  <a:pt x="15854418" y="10569611"/>
                </a:lnTo>
                <a:lnTo>
                  <a:pt x="0" y="1056961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  <p:transition spd="slow">
    <p:push dir="l"/>
  </p:transition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91E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0"/>
            <a:ext cx="16783657" cy="10855505"/>
          </a:xfrm>
          <a:custGeom>
            <a:avLst/>
            <a:gdLst/>
            <a:ahLst/>
            <a:cxnLst/>
            <a:rect r="r" b="b" t="t" l="l"/>
            <a:pathLst>
              <a:path h="10855505" w="16783657">
                <a:moveTo>
                  <a:pt x="0" y="0"/>
                </a:moveTo>
                <a:lnTo>
                  <a:pt x="16783657" y="0"/>
                </a:lnTo>
                <a:lnTo>
                  <a:pt x="16783657" y="10855505"/>
                </a:lnTo>
                <a:lnTo>
                  <a:pt x="0" y="1085550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536" r="0" b="-1536"/>
            </a:stretch>
          </a:blipFill>
        </p:spPr>
      </p:sp>
    </p:spTree>
  </p:cSld>
  <p:clrMapOvr>
    <a:masterClrMapping/>
  </p:clrMapOvr>
  <p:transition spd="slow">
    <p:push dir="l"/>
  </p:transition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91E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19835" y="0"/>
            <a:ext cx="16648330" cy="11098887"/>
          </a:xfrm>
          <a:custGeom>
            <a:avLst/>
            <a:gdLst/>
            <a:ahLst/>
            <a:cxnLst/>
            <a:rect r="r" b="b" t="t" l="l"/>
            <a:pathLst>
              <a:path h="11098887" w="16648330">
                <a:moveTo>
                  <a:pt x="0" y="0"/>
                </a:moveTo>
                <a:lnTo>
                  <a:pt x="16648330" y="0"/>
                </a:lnTo>
                <a:lnTo>
                  <a:pt x="16648330" y="11098887"/>
                </a:lnTo>
                <a:lnTo>
                  <a:pt x="0" y="110988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  <p:transition spd="slow">
    <p:push dir="l"/>
  </p:transition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91E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43307" y="0"/>
            <a:ext cx="16415993" cy="10943995"/>
          </a:xfrm>
          <a:custGeom>
            <a:avLst/>
            <a:gdLst/>
            <a:ahLst/>
            <a:cxnLst/>
            <a:rect r="r" b="b" t="t" l="l"/>
            <a:pathLst>
              <a:path h="10943995" w="16415993">
                <a:moveTo>
                  <a:pt x="0" y="0"/>
                </a:moveTo>
                <a:lnTo>
                  <a:pt x="16415993" y="0"/>
                </a:lnTo>
                <a:lnTo>
                  <a:pt x="16415993" y="10943995"/>
                </a:lnTo>
                <a:lnTo>
                  <a:pt x="0" y="1094399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  <p:transition spd="slow">
    <p:push dir="l"/>
  </p:transition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91E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54812" y="-132736"/>
            <a:ext cx="17178375" cy="11260520"/>
          </a:xfrm>
          <a:custGeom>
            <a:avLst/>
            <a:gdLst/>
            <a:ahLst/>
            <a:cxnLst/>
            <a:rect r="r" b="b" t="t" l="l"/>
            <a:pathLst>
              <a:path h="11260520" w="17178375">
                <a:moveTo>
                  <a:pt x="0" y="0"/>
                </a:moveTo>
                <a:lnTo>
                  <a:pt x="17178376" y="0"/>
                </a:lnTo>
                <a:lnTo>
                  <a:pt x="17178376" y="11260520"/>
                </a:lnTo>
                <a:lnTo>
                  <a:pt x="0" y="1126052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51" r="0" b="-851"/>
            </a:stretch>
          </a:blipFill>
        </p:spPr>
      </p:sp>
    </p:spTree>
  </p:cSld>
  <p:clrMapOvr>
    <a:masterClrMapping/>
  </p:clrMapOvr>
  <p:transition spd="slow">
    <p:push dir="l"/>
  </p:transition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91E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62112" y="-132736"/>
            <a:ext cx="17763775" cy="11665535"/>
          </a:xfrm>
          <a:custGeom>
            <a:avLst/>
            <a:gdLst/>
            <a:ahLst/>
            <a:cxnLst/>
            <a:rect r="r" b="b" t="t" l="l"/>
            <a:pathLst>
              <a:path h="11665535" w="17763775">
                <a:moveTo>
                  <a:pt x="0" y="0"/>
                </a:moveTo>
                <a:lnTo>
                  <a:pt x="17763776" y="0"/>
                </a:lnTo>
                <a:lnTo>
                  <a:pt x="17763776" y="11665535"/>
                </a:lnTo>
                <a:lnTo>
                  <a:pt x="0" y="1166553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758" r="0" b="-758"/>
            </a:stretch>
          </a:blipFill>
        </p:spPr>
      </p:sp>
    </p:spTree>
  </p:cSld>
  <p:clrMapOvr>
    <a:masterClrMapping/>
  </p:clrMapOvr>
  <p:transition spd="slow">
    <p:push dir="l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DAHUm4KOQag</dc:identifier>
  <dcterms:modified xsi:type="dcterms:W3CDTF">2011-08-01T06:04:30Z</dcterms:modified>
  <cp:revision>1</cp:revision>
</cp:coreProperties>
</file>